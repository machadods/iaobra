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15 segundos. Cumprimentar a banca/turma, dizer o nome do projeto (IAOBRA) e o nome do apresentador. Ser direto, sem se alongar.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30 segundos. Retomar rapidamente o problema já apresentado nas Práticas 1 e 2: gestão de obras feita de forma manual e informal, dificultando o acompanhamento pelo cliente e o controle de custos/material.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30 segundos. Apresentar a proposta computacional definida nas Práticas 1 e 2: uma plataforma web que digitaliza o diário de obra e usa IA para gerar cronograma, analisar progresso e orçar materiais.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minuto. Mostrar o DER atualizado após a Entrega 1: entidades USUARIO, OBRA, REGISTRO (diário), ORCAMENTO, CRONOGRAMA e SOBRAS, destacando o relacionamento entre mestre de obras, cliente e obra.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 minuto. Explicar os três atores — Mestre de Obras, Cliente/Proprietário e Comprador de sobras — e os principais casos de uso: cadastrar obra, registrar progresso, anexar fotos/vídeos, consultar preços, publicar e buscar sobras, estudar com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5 minutos (fora dos slides). Sair da apresentação e abrir a aplicação rodando. Mostrar, nesta ordem: (1) interface principal/dashboard; (2) uma tela de CRUD (ex.: cadastro de obras); (3) uma tela de consulta/pesquisa/relatório (ex.: análise de dados); (4) o formulário de contato com os desenvolvedores. Voltar aos slides para o encerramento.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Encerramento: agradecer a atenção da turma/banca, reforçar o nome do projeto e disponibilizar contato para dúvidas. Abrir espaço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E8590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023360"/>
            <a:ext cx="3840480" cy="3840480"/>
          </a:xfrm>
          <a:prstGeom prst="ellipse">
            <a:avLst/>
          </a:prstGeom>
          <a:solidFill>
            <a:srgbClr val="E8590C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PRÁTICAS EXTENSIONISTAS III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14884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IAOBRA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A9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Gestão de Obras com Inteligência Artificial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262B3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534924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Wagner Machado dos Santos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 em Ciência de Dados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292608" cy="292608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8404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E2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Problema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7899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Retomando o cenário identificado nas Práticas 1 e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280660" cy="201168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  <a:effectLst>
            <a:outerShdw sx="100000" sy="100000" kx="0" ky="0" algn="bl" rotWithShape="0" blurRad="101600" dist="38100" dir="27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783080"/>
            <a:ext cx="457200" cy="45720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4732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manual e disperso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724912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Progresso da obra registrado em papel, planilhas soltas e conversas de WhatsApp, sem histórico confiável.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40780" y="1554480"/>
            <a:ext cx="5280660" cy="201168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  <a:effectLst>
            <a:outerShdw sx="100000" sy="100000" kx="0" ky="0" algn="bl" rotWithShape="0" blurRad="101600" dist="38100" dir="27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69380" y="1783080"/>
            <a:ext cx="457200" cy="45720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2" name="Text 10"/>
          <p:cNvSpPr/>
          <p:nvPr/>
        </p:nvSpPr>
        <p:spPr>
          <a:xfrm>
            <a:off x="64693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15100" y="2331720"/>
            <a:ext cx="4732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sem visibilidade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15100" y="2724912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proprietário não acompanha o andamento real da obra e depende de repasses informais do mestre de obras.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5280660" cy="201168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  <a:effectLst>
            <a:outerShdw sx="100000" sy="100000" kx="0" ky="0" algn="bl" rotWithShape="0" blurRad="101600" dist="38100" dir="27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023360"/>
            <a:ext cx="457200" cy="45720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4572000"/>
            <a:ext cx="4732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detectados tarde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4965192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dados estruturados, atrasos e falhas de execução só aparecem quando já geraram retrabalho.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40780" y="3794760"/>
            <a:ext cx="5280660" cy="201168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  <a:effectLst>
            <a:outerShdw sx="100000" sy="100000" kx="0" ky="0" algn="bl" rotWithShape="0" blurRad="101600" dist="38100" dir="27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69380" y="4023360"/>
            <a:ext cx="457200" cy="45720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22" name="Text 20"/>
          <p:cNvSpPr/>
          <p:nvPr/>
        </p:nvSpPr>
        <p:spPr>
          <a:xfrm>
            <a:off x="646938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15100" y="4572000"/>
            <a:ext cx="4732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Desperdício e orçamento impreciso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5100" y="4965192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Sobras de material mal aproveitadas e preços desatualizados encarecem e atrasam a obra.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292608" cy="292608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8404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E2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Proposta de Solução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7899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IAOBRA: plataforma web com IA integrada para digitalizar o dia a dia da obra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2514600" cy="3246120"/>
          </a:xfrm>
          <a:prstGeom prst="roundRect">
            <a:avLst>
              <a:gd name="adj" fmla="val 2909"/>
            </a:avLst>
          </a:prstGeom>
          <a:solidFill>
            <a:srgbClr val="F4F5F6"/>
          </a:solidFill>
          <a:ln/>
          <a:effectLst>
            <a:outerShdw sx="100000" sy="100000" kx="0" ky="0" algn="bl" rotWithShape="0" blurRad="101600" dist="38100" dir="27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46888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Diário digital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862072"/>
            <a:ext cx="1965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Mestre de obras registra o progresso diário com texto, fotos, vídeos e áudio.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29000" y="1691640"/>
            <a:ext cx="2514600" cy="3246120"/>
          </a:xfrm>
          <a:prstGeom prst="roundRect">
            <a:avLst>
              <a:gd name="adj" fmla="val 2909"/>
            </a:avLst>
          </a:prstGeom>
          <a:solidFill>
            <a:srgbClr val="F4F5F6"/>
          </a:solidFill>
          <a:ln/>
          <a:effectLst>
            <a:outerShdw sx="100000" sy="100000" kx="0" ky="0" algn="bl" rotWithShape="0" blurRad="101600" dist="38100" dir="27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1920240"/>
            <a:ext cx="457200" cy="45720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246888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analisa e planeja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03320" y="2862072"/>
            <a:ext cx="1965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lê os registros, gera cronograma automático e aponta possíveis problemas.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7920" y="1691640"/>
            <a:ext cx="2514600" cy="3246120"/>
          </a:xfrm>
          <a:prstGeom prst="roundRect">
            <a:avLst>
              <a:gd name="adj" fmla="val 2909"/>
            </a:avLst>
          </a:prstGeom>
          <a:solidFill>
            <a:srgbClr val="F4F5F6"/>
          </a:solidFill>
          <a:ln/>
          <a:effectLst>
            <a:outerShdw sx="100000" sy="100000" kx="0" ky="0" algn="bl" rotWithShape="0" blurRad="101600" dist="38100" dir="27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92240" y="246888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inteligente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62072"/>
            <a:ext cx="1965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de preços de materiais por IA e controle de orçamento da obra.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06840" y="1691640"/>
            <a:ext cx="2514600" cy="3246120"/>
          </a:xfrm>
          <a:prstGeom prst="roundRect">
            <a:avLst>
              <a:gd name="adj" fmla="val 2909"/>
            </a:avLst>
          </a:prstGeom>
          <a:solidFill>
            <a:srgbClr val="F4F5F6"/>
          </a:solidFill>
          <a:ln/>
          <a:effectLst>
            <a:outerShdw sx="100000" sy="100000" kx="0" ky="0" algn="bl" rotWithShape="0" blurRad="101600" dist="38100" dir="27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35440" y="1920240"/>
            <a:ext cx="457200" cy="45720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22" name="Text 20"/>
          <p:cNvSpPr/>
          <p:nvPr/>
        </p:nvSpPr>
        <p:spPr>
          <a:xfrm>
            <a:off x="92354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81160" y="246888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cliente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81160" y="2862072"/>
            <a:ext cx="1965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acompanha tudo em tempo real; mercado de sobras dá destino ao material excedente.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166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Python + Streamlit  ·  PostgreSQL  ·  IA (Gemini via OpenRouter)  ·  Docker + Nginx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292608" cy="292608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8404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E2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Modelo Entidade-Relacionamento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7899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atualizado após a Entrega 1 — usuários, obras, diário, orçamento, cronograma e sobras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347239" y="1554480"/>
            <a:ext cx="9497217" cy="4709160"/>
          </a:xfrm>
          <a:prstGeom prst="roundRect">
            <a:avLst>
              <a:gd name="adj" fmla="val 1165"/>
            </a:avLst>
          </a:prstGeom>
          <a:solidFill>
            <a:srgbClr val="F4F5F6"/>
          </a:solidFill>
          <a:ln/>
          <a:effectLst>
            <a:outerShdw sx="100000" sy="100000" kx="0" ky="0" algn="bl" rotWithShape="0" blurRad="101600" dist="38100" dir="2700000">
              <a:srgbClr val="000000">
                <a:alpha val="15000"/>
              </a:srgbClr>
            </a:outerShdw>
          </a:effectLst>
        </p:spPr>
      </p:sp>
      <p:pic>
        <p:nvPicPr>
          <p:cNvPr id="6" name="Image 0" descr="C:/Users/wagner/Desktop/CIENCIA DE DADOS/IAOBRAS/Diagramas/Diagrama Entidade-Relacionamento (DER)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84399" y="1691640"/>
            <a:ext cx="9222897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292608" cy="292608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8404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E2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Diagrama de Caso de Uso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7899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Atores do sistema e principais funcionalidades disponíveis para cada perfil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934872" y="1554480"/>
            <a:ext cx="6321950" cy="3931920"/>
          </a:xfrm>
          <a:prstGeom prst="roundRect">
            <a:avLst>
              <a:gd name="adj" fmla="val 1395"/>
            </a:avLst>
          </a:prstGeom>
          <a:solidFill>
            <a:srgbClr val="F4F5F6"/>
          </a:solidFill>
          <a:ln/>
          <a:effectLst>
            <a:outerShdw sx="100000" sy="100000" kx="0" ky="0" algn="bl" rotWithShape="0" blurRad="101600" dist="38100" dir="2700000">
              <a:srgbClr val="000000">
                <a:alpha val="15000"/>
              </a:srgbClr>
            </a:outerShdw>
          </a:effectLst>
        </p:spPr>
      </p:sp>
      <p:pic>
        <p:nvPicPr>
          <p:cNvPr id="6" name="Image 0" descr="C:/Users/wagner/Desktop/CIENCIA DE DADOS/IAOBRAS/Diagramas/Diagrama de Caso de U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072032" y="1691640"/>
            <a:ext cx="604763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118208" y="580644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FBE7DA"/>
          </a:solidFill>
          <a:ln/>
        </p:spPr>
      </p:sp>
      <p:sp>
        <p:nvSpPr>
          <p:cNvPr id="8" name="Text 5"/>
          <p:cNvSpPr/>
          <p:nvPr/>
        </p:nvSpPr>
        <p:spPr>
          <a:xfrm>
            <a:off x="2118208" y="58064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Mestre de Obras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861408" y="580644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FBE7DA"/>
          </a:solidFill>
          <a:ln/>
        </p:spPr>
      </p:sp>
      <p:sp>
        <p:nvSpPr>
          <p:cNvPr id="10" name="Text 7"/>
          <p:cNvSpPr/>
          <p:nvPr/>
        </p:nvSpPr>
        <p:spPr>
          <a:xfrm>
            <a:off x="4861408" y="58064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/ Proprietário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604608" y="580644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FBE7DA"/>
          </a:solidFill>
          <a:ln/>
        </p:spPr>
      </p:sp>
      <p:sp>
        <p:nvSpPr>
          <p:cNvPr id="12" name="Text 9"/>
          <p:cNvSpPr/>
          <p:nvPr/>
        </p:nvSpPr>
        <p:spPr>
          <a:xfrm>
            <a:off x="7604608" y="58064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 de Sobras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389120"/>
            <a:ext cx="5486400" cy="5486400"/>
          </a:xfrm>
          <a:prstGeom prst="ellipse">
            <a:avLst/>
          </a:prstGeom>
          <a:solidFill>
            <a:srgbClr val="E8590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92608" cy="292608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3200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Vamos ao Protótipo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A9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ao vivo da aplicação (Streamlit) — pontos a mostrar: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5280660" cy="1965960"/>
          </a:xfrm>
          <a:prstGeom prst="roundRect">
            <a:avLst>
              <a:gd name="adj" fmla="val 3721"/>
            </a:avLst>
          </a:prstGeom>
          <a:solidFill>
            <a:srgbClr val="262B34"/>
          </a:solidFill>
          <a:ln/>
          <a:effectLst>
            <a:outerShdw sx="100000" sy="100000" kx="0" ky="0" algn="bl" rotWithShape="0" blurRad="101600" dist="38100" dir="27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874520"/>
            <a:ext cx="457200" cy="45720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2423160"/>
            <a:ext cx="4732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principal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2816352"/>
            <a:ext cx="47320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inicial com status das obras e navegação da plataforma.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40780" y="1645920"/>
            <a:ext cx="5280660" cy="1965960"/>
          </a:xfrm>
          <a:prstGeom prst="roundRect">
            <a:avLst>
              <a:gd name="adj" fmla="val 3721"/>
            </a:avLst>
          </a:prstGeom>
          <a:solidFill>
            <a:srgbClr val="262B34"/>
          </a:solidFill>
          <a:ln/>
          <a:effectLst>
            <a:outerShdw sx="100000" sy="100000" kx="0" ky="0" algn="bl" rotWithShape="0" blurRad="101600" dist="38100" dir="27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69380" y="1874520"/>
            <a:ext cx="457200" cy="45720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3" name="Text 11"/>
          <p:cNvSpPr/>
          <p:nvPr/>
        </p:nvSpPr>
        <p:spPr>
          <a:xfrm>
            <a:off x="64693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15100" y="2423160"/>
            <a:ext cx="4732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da solução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15100" y="2816352"/>
            <a:ext cx="47320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Cadastro, edição e exclusão de Obras pelo Mestre de Obras.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5280660" cy="1965960"/>
          </a:xfrm>
          <a:prstGeom prst="roundRect">
            <a:avLst>
              <a:gd name="adj" fmla="val 3721"/>
            </a:avLst>
          </a:prstGeom>
          <a:solidFill>
            <a:srgbClr val="262B34"/>
          </a:solidFill>
          <a:ln/>
          <a:effectLst>
            <a:outerShdw sx="100000" sy="100000" kx="0" ky="0" algn="bl" rotWithShape="0" blurRad="101600" dist="38100" dir="27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4069080"/>
            <a:ext cx="457200" cy="45720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4617720"/>
            <a:ext cx="4732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/ Relatório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10912"/>
            <a:ext cx="47320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Análise de Dados com gráficos e indicadores de progresso.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40780" y="3840480"/>
            <a:ext cx="5280660" cy="1965960"/>
          </a:xfrm>
          <a:prstGeom prst="roundRect">
            <a:avLst>
              <a:gd name="adj" fmla="val 3721"/>
            </a:avLst>
          </a:prstGeom>
          <a:solidFill>
            <a:srgbClr val="262B34"/>
          </a:solidFill>
          <a:ln/>
          <a:effectLst>
            <a:outerShdw sx="100000" sy="100000" kx="0" ky="0" algn="bl" rotWithShape="0" blurRad="101600" dist="38100" dir="27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69380" y="4069080"/>
            <a:ext cx="457200" cy="45720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23" name="Text 21"/>
          <p:cNvSpPr/>
          <p:nvPr/>
        </p:nvSpPr>
        <p:spPr>
          <a:xfrm>
            <a:off x="646938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515100" y="4617720"/>
            <a:ext cx="47320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com os desenvolvedores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15100" y="5010912"/>
            <a:ext cx="47320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de fale conosco / suporte da plataforma.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286000"/>
            <a:ext cx="5486400" cy="5486400"/>
          </a:xfrm>
          <a:prstGeom prst="ellipse">
            <a:avLst/>
          </a:prstGeom>
          <a:solidFill>
            <a:srgbClr val="E8590C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Obrigado!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68680" y="32918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9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são bem-vindas.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297680"/>
            <a:ext cx="6583680" cy="1234440"/>
          </a:xfrm>
          <a:prstGeom prst="roundRect">
            <a:avLst>
              <a:gd name="adj" fmla="val 5926"/>
            </a:avLst>
          </a:prstGeom>
          <a:solidFill>
            <a:srgbClr val="262B34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4526280"/>
            <a:ext cx="457200" cy="45720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452628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Wagner Machado dos Santos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machadinho94@hotmail.com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IAOBRA — Práticas Extensionistas III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IAOBRA — Apresentação do Projeto</dc:title>
  <dc:subject>PptxGenJS Presentation</dc:subject>
  <dc:creator>Wagner Machado dos Santos</dc:creator>
  <cp:lastModifiedBy>Wagner Machado dos Santos</cp:lastModifiedBy>
  <cp:revision>1</cp:revision>
  <dcterms:created xsi:type="dcterms:W3CDTF">2026-07-06T04:06:32Z</dcterms:created>
  <dcterms:modified xsi:type="dcterms:W3CDTF">2026-07-06T04:06:32Z</dcterms:modified>
</cp:coreProperties>
</file>